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194560"/>
            <a:ext cx="82296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980B9"/>
                </a:solidFill>
              </a:defRPr>
            </a:pPr>
            <a:r>
              <a:t>Credit Scoring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67E22"/>
                </a:solidFill>
              </a:defRPr>
            </a:pPr>
            <a:r>
              <a:t>Exploratory Data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0" y="447040"/>
            <a:ext cx="1097280" cy="10972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74320" y="5486400"/>
            <a:ext cx="731520" cy="7315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997" y="101600"/>
            <a:ext cx="2143125" cy="209296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410960" y="3931920"/>
            <a:ext cx="1554480" cy="640080"/>
          </a:xfrm>
          <a:prstGeom prst="ellipse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D.E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📋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1. Executive Summary &amp; Key Findings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2. Data Overview &amp; Quality Assessment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3. Univariate Analysis - Feature Distributions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4. Bivariate Analysis - Feature vs Target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5. Multivariate Analysis - Feature Interactions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6. Conclusions &amp; Recommendations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E67E22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Key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60020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29191"/>
            <a:ext cx="6858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rPr dirty="0"/>
              <a:t>Dataset contains 150,000 borrower records with </a:t>
            </a:r>
            <a:r>
              <a:rPr dirty="0" smtClean="0"/>
              <a:t>1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256032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81589"/>
            <a:ext cx="68580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rPr dirty="0"/>
              <a:t>Missing values successfully imputed using </a:t>
            </a:r>
            <a:r>
              <a:rPr lang="en-US" dirty="0" smtClean="0"/>
              <a:t>median and mode</a:t>
            </a:r>
            <a:r>
              <a:rPr dirty="0" smtClean="0"/>
              <a:t> </a:t>
            </a:r>
            <a:r>
              <a:rPr dirty="0"/>
              <a:t>method (19.82% in </a:t>
            </a:r>
            <a:r>
              <a:rPr dirty="0" err="1"/>
              <a:t>MonthlyIncome</a:t>
            </a:r>
            <a:r>
              <a:rPr dirty="0"/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" y="352044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2900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Delinquency history is the strongest predictor of default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5196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" y="448056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8912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High credit utilization (&gt;80%) significantly increases default probability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1208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2960" y="544068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4924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Age shows U-shaped relationship with default risk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16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📊 Dataset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Total Records: 150,000 borrowers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Total Features: </a:t>
            </a:r>
            <a:r>
              <a:rPr dirty="0" smtClean="0"/>
              <a:t>1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(</a:t>
            </a:r>
            <a:r>
              <a:rPr dirty="0" smtClean="0"/>
              <a:t>1</a:t>
            </a:r>
            <a:r>
              <a:rPr lang="en-US" dirty="0" smtClean="0"/>
              <a:t>0</a:t>
            </a:r>
            <a:r>
              <a:rPr dirty="0" smtClean="0"/>
              <a:t> </a:t>
            </a:r>
            <a:r>
              <a:rPr dirty="0"/>
              <a:t>numerical, 1 target)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Target Variable: SeriousDlqin2yrs (Binary: Default/No Default)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Time Period: 2-year observation window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Data Quality: Missing values in 2 features (handled via imputation)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Feature Categories: Demographics, Financial Metrics, Credit History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E67E22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Data Quality Assessment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🔍 Missing Values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_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225856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💡 Missing Values - Key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 err="1"/>
              <a:t>MonthlyIncome</a:t>
            </a:r>
            <a:r>
              <a:rPr dirty="0"/>
              <a:t>: 29,731 missing (19.82%)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  → Critical financial indicator requiring imputation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  → </a:t>
            </a:r>
            <a:r>
              <a:rPr lang="en-US" dirty="0" smtClean="0"/>
              <a:t>Median</a:t>
            </a:r>
            <a:r>
              <a:rPr dirty="0" smtClean="0"/>
              <a:t> </a:t>
            </a:r>
            <a:r>
              <a:rPr dirty="0"/>
              <a:t>imputation applied to preserve distribution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 err="1"/>
              <a:t>NumberOfDependents</a:t>
            </a:r>
            <a:r>
              <a:rPr dirty="0"/>
              <a:t>: 3,924 missing (2.62%)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  → Lower impact on overall data quality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  → </a:t>
            </a:r>
            <a:r>
              <a:rPr lang="en-US" dirty="0" smtClean="0"/>
              <a:t>Mode</a:t>
            </a:r>
            <a:r>
              <a:rPr dirty="0" smtClean="0"/>
              <a:t> </a:t>
            </a:r>
            <a:r>
              <a:rPr dirty="0"/>
              <a:t>imputation maintains demographic patterns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✅ All missing values successfully handled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✅ Zero missing values in cleaned dataset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📈 Outlier Detection (IQR Method)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_outlier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316452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E67E22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Univariate Analysis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👥 Age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Peak age range: 45-50 years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Approximately normal distribution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Slight right skew observed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Mature borrower base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Range: 18-109 years</a:t>
            </a:r>
          </a:p>
        </p:txBody>
      </p:sp>
      <p:pic>
        <p:nvPicPr>
          <p:cNvPr id="7" name="Picture 6" descr="03_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128540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💳 Credit Utilization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Highly right-skewed distribution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Most borrowers: &lt;50% utilization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Significant portion: &gt;100% utilization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Indicates over-leveraging risk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Key predictor of default</a:t>
            </a:r>
          </a:p>
        </p:txBody>
      </p:sp>
      <p:pic>
        <p:nvPicPr>
          <p:cNvPr id="7" name="Picture 6" descr="03_credit_utiliza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128540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💰 Debt Ratio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Long-tail distribution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Most borrowers: manageable ratios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Extreme outliers present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High ratios = financial stress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Critical risk indicator</a:t>
            </a:r>
          </a:p>
        </p:txBody>
      </p:sp>
      <p:pic>
        <p:nvPicPr>
          <p:cNvPr id="7" name="Picture 6" descr="03_debt_ratio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128716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💵 Monthly Income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Right-skewed distribution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Median: $3,000-$10,000/month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High-income outliers present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Diverse borrower base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Income spans multiple brackets</a:t>
            </a:r>
          </a:p>
        </p:txBody>
      </p:sp>
      <p:pic>
        <p:nvPicPr>
          <p:cNvPr id="7" name="Picture 6" descr="03_monthly_incom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128540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⚠️ Delinquency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3_delinquenc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424235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E67E22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Bivariate Analysis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👥 Age vs Default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U-shaped relationship observed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Younger borrowers (&lt;30): Higher risk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Middle-aged (40-60): Lowest risk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Older borrowers (&gt;70): Elevated risk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Financial stability peaks mid-career</a:t>
            </a:r>
          </a:p>
        </p:txBody>
      </p:sp>
      <p:pic>
        <p:nvPicPr>
          <p:cNvPr id="7" name="Picture 6" descr="04_age_vs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129948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💳 Credit Utilization vs Default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Strong positive correlation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Utilization &gt;80%: High default rates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Clear threshold effect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Over-leveraging = distress signal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Top predictor of default</a:t>
            </a:r>
          </a:p>
        </p:txBody>
      </p:sp>
      <p:pic>
        <p:nvPicPr>
          <p:cNvPr id="7" name="Picture 6" descr="04_credit_utilization_vs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129948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💰 Debt Ratio vs Default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Clear positive relationship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Ratio &gt;0.5: Markedly higher default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Debt burden = critical risk factor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Linear relationship observed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Strong predictive power</a:t>
            </a:r>
          </a:p>
        </p:txBody>
      </p:sp>
      <p:pic>
        <p:nvPicPr>
          <p:cNvPr id="7" name="Picture 6" descr="04_debt_ratio_vs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129948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💵 Monthly Income vs Default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Inverse relationship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Lower income: Higher default rates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Higher income: Better repayment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Income = protective factor</a:t>
            </a:r>
          </a:p>
          <a:p>
            <a:pPr>
              <a:spcBef>
                <a:spcPts val="1000"/>
              </a:spcBef>
              <a:defRPr sz="1600">
                <a:solidFill>
                  <a:srgbClr val="2C3E50"/>
                </a:solidFill>
              </a:defRPr>
            </a:pPr>
            <a:r>
              <a:t>Socioeconomic indicator</a:t>
            </a:r>
          </a:p>
        </p:txBody>
      </p:sp>
      <p:pic>
        <p:nvPicPr>
          <p:cNvPr id="7" name="Picture 6" descr="04_monthly_income_vs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3931920" cy="129948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📊 Feature-Target Correlation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4_feature_target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509821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E67E22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Multivariate Analysis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🔗 Feature Correlation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5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582461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💡 Correlation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Strong correlations among delinquency features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→ 30-59, 60-89, and 90+ days late highly correlated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→ Suggests multicollinearity - consider feature selection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Moderate correlation: Age &amp; Real Estate Loans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→ Older borrowers tend to have more mortgages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Weak correlation: Monthly Income &amp; other features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→ Income is relatively independent predictor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Target variable: Strongest with delinquency features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🎨 Pairwise Feature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5_pairplot_key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570129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E67E22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Conclusions &amp; Recommendations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Key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60020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0876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Delinquency history = strongest default predictor (correlation &gt;0.3)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256032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79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Credit utilization &gt;80% and debt ratio &gt;50% = major risk indicators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" y="352044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2900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Age shows non-linear relationship requiring binning or polynomial 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5196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" y="448056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8912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Lower income levels associated with increased default probability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12080"/>
            <a:ext cx="7772400" cy="82296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2960" y="544068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4924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Feature multicollinearity present - dimensionality reduction recommended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🎯 Model Development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Feature Engineering: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• Create interaction terms (debt ratio × income)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• Apply log transformation to skewed features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• Bin age into risk categories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Feature Selection: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• Address multicollinearity in delinquency features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• Use L1 regularization or PCA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Model Training: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• Handle class imbalance (SMOTE, class weights)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t>  • Cross-validation for robust evaluation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🚀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8712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1. Feature Engineering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   → Create derived features based on EDA insights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2. Feature Selection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   → Apply statistical tests and model-based selection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3. Model Development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   → Train multiple algorithms (Logistic Regression, Random Forest, </a:t>
            </a:r>
            <a:r>
              <a:rPr dirty="0" err="1"/>
              <a:t>XGBoost</a:t>
            </a:r>
            <a:r>
              <a:rPr dirty="0"/>
              <a:t>)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4. Model Evaluation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   → ROC-AUC, Precision-Recall, Confusion Matrix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5. Model Deployment</a:t>
            </a:r>
          </a:p>
          <a:p>
            <a:pPr>
              <a:spcBef>
                <a:spcPts val="1200"/>
              </a:spcBef>
              <a:defRPr sz="1800" b="0">
                <a:solidFill>
                  <a:srgbClr val="2C3E50"/>
                </a:solidFill>
              </a:defRPr>
            </a:pPr>
            <a:r>
              <a:rPr dirty="0"/>
              <a:t>   → Production pipeline with monitoring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67E22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753</Words>
  <Application>Microsoft Office PowerPoint</Application>
  <PresentationFormat>On-screen Show (4:3)</PresentationFormat>
  <Paragraphs>158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Densa</cp:lastModifiedBy>
  <cp:revision>5</cp:revision>
  <dcterms:created xsi:type="dcterms:W3CDTF">2013-01-27T09:14:16Z</dcterms:created>
  <dcterms:modified xsi:type="dcterms:W3CDTF">2026-05-02T03:15:59Z</dcterms:modified>
  <cp:category/>
</cp:coreProperties>
</file>